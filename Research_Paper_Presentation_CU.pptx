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  <p:embeddedFontLst>
    <p:embeddedFont>
      <p:font typeface="Georgia"/>
    </p:embeddedFont>
    <p:embeddedFont>
      <p:font typeface="Archivo Narrow"/>
      <p:regular r:id="rId12"/>
      <p:bold r:id="rId13"/>
      <p:italic r:id="rId14"/>
      <p:boldItalic r:id="rId15"/>
    </p:embeddedFont>
    <p:embeddedFont>
      <p:font typeface="Noto Sans CJK SC"/>
      <p:regular r:id="rId16"/>
      <p:bold r:id="rId17"/>
      <p:italic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font" Target="fonts/Font_1_Archivo_Narrow_Regular.fntdata"/><Relationship Id="rId13" Type="http://schemas.openxmlformats.org/officeDocument/2006/relationships/font" Target="fonts/Font_2_Archivo_Narrow_Bold.fntdata"/><Relationship Id="rId14" Type="http://schemas.openxmlformats.org/officeDocument/2006/relationships/font" Target="fonts/Font_3_Archivo_Narrow_Italic.fntdata"/><Relationship Id="rId15" Type="http://schemas.openxmlformats.org/officeDocument/2006/relationships/font" Target="fonts/Font_4_Archivo_Narrow_BoldItalic.fntdata"/><Relationship Id="rId16" Type="http://schemas.openxmlformats.org/officeDocument/2006/relationships/font" Target="fonts/Font_5_Noto_Sans_CJK_SC_Regular.fntdata"/><Relationship Id="rId17" Type="http://schemas.openxmlformats.org/officeDocument/2006/relationships/font" Target="fonts/Font_6_Noto_Sans_CJK_SC_Bold.fntdata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1886760"/>
            <a:ext cx="8520120" cy="184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1D43A6-4766-43A4-8D8D-D8E6910BBA1B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Google Shape;13;p2"/>
          <p:cNvSpPr/>
          <p:nvPr/>
        </p:nvSpPr>
        <p:spPr>
          <a:xfrm flipH="1">
            <a:off x="-720" y="67320"/>
            <a:ext cx="9143640" cy="1419840"/>
          </a:xfrm>
          <a:prstGeom prst="flowChartDocument">
            <a:avLst/>
          </a:prstGeom>
          <a:noFill/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4;p2"/>
          <p:cNvSpPr/>
          <p:nvPr/>
        </p:nvSpPr>
        <p:spPr>
          <a:xfrm flipH="1">
            <a:off x="-720" y="0"/>
            <a:ext cx="9143640" cy="1419840"/>
          </a:xfrm>
          <a:prstGeom prst="flowChartDocument">
            <a:avLst/>
          </a:prstGeom>
          <a:solidFill>
            <a:srgbClr val="0B53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5;p2"/>
          <p:cNvSpPr/>
          <p:nvPr/>
        </p:nvSpPr>
        <p:spPr>
          <a:xfrm>
            <a:off x="-11160" y="5919840"/>
            <a:ext cx="9154800" cy="937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6;p2"/>
          <p:cNvSpPr/>
          <p:nvPr/>
        </p:nvSpPr>
        <p:spPr>
          <a:xfrm>
            <a:off x="0" y="5919840"/>
            <a:ext cx="357192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MISSION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 is a nurturing ground for an individual’s holistic development to make effective contribution to the society in a dynamic environment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7;p2"/>
          <p:cNvSpPr/>
          <p:nvPr/>
        </p:nvSpPr>
        <p:spPr>
          <a:xfrm>
            <a:off x="3709080" y="5919840"/>
            <a:ext cx="203040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VISION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8;p2"/>
          <p:cNvSpPr/>
          <p:nvPr/>
        </p:nvSpPr>
        <p:spPr>
          <a:xfrm>
            <a:off x="6067800" y="5919840"/>
            <a:ext cx="298404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CORE  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Faith in God |  Moral Uprightness</a:t>
            </a:r>
            <a:br>
              <a:rPr sz="1100"/>
            </a:br>
            <a:r>
              <a:rPr lang="en-GB" sz="1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 Love of Fellow Beings   </a:t>
            </a:r>
            <a:br>
              <a:rPr sz="1100"/>
            </a:br>
            <a:r>
              <a:rPr lang="en-GB" sz="1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Social Responsibility | Pursuit of Excellence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19;p2"/>
          <p:cNvPicPr/>
          <p:nvPr/>
        </p:nvPicPr>
        <p:blipFill>
          <a:blip r:embed="rId2"/>
          <a:stretch/>
        </p:blipFill>
        <p:spPr>
          <a:xfrm>
            <a:off x="5943600" y="232200"/>
            <a:ext cx="2764440" cy="100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1474920"/>
            <a:ext cx="8520120" cy="261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4203000"/>
            <a:ext cx="8520120" cy="173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682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2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133EE4-0655-45C7-9D50-AE72B2183979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Google Shape;95;p11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96;p11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7;p11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8;p11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9;p11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Num" idx="3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879B02-1E8D-479D-8A79-68F32CB46004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Google Shape;102;p12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103;p12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04;p12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05;p12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06;p12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682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4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E97E95-425A-4EE0-A8F1-1DE03FE34FA6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Google Shape;24;p3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25;p3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26;p3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27;p3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28;p3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5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8091B5-C9DC-496C-B542-D4D4D1BF885D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Google Shape;32;p4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33;p4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34;p4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35;p4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36;p4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11760" y="1536480"/>
            <a:ext cx="399960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832280" y="1536480"/>
            <a:ext cx="399960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A2BDEA-1653-4228-A1EE-18785FAC280A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Google Shape;42;p5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43;p5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44;p5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45;p5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46;p5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7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D6C9B9-65F6-4A9D-8DEE-B30FC7002F6B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Google Shape;50;p6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51;p6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52;p6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53;p6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54;p6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740880"/>
            <a:ext cx="2807640" cy="100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11760" y="1852920"/>
            <a:ext cx="2807640" cy="423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8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807603-9237-48C2-85DE-B6FD397AE968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Google Shape;59;p7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60;p7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61;p7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62;p7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63;p7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90320" y="600120"/>
            <a:ext cx="6367320" cy="54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9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50A627-0B3E-4EFB-AF82-5FC2BA30215C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3;p9"/>
          <p:cNvSpPr/>
          <p:nvPr/>
        </p:nvSpPr>
        <p:spPr>
          <a:xfrm>
            <a:off x="4572000" y="0"/>
            <a:ext cx="4571640" cy="6857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65680" y="1644120"/>
            <a:ext cx="4044960" cy="197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939560" y="965520"/>
            <a:ext cx="3836520" cy="492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682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0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C5D417-2192-4C8D-A1A4-D3F26B39F2BB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Google Shape;78;p9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79;p9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80;p9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81;p9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82;p9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311760" y="5640840"/>
            <a:ext cx="5998320" cy="80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1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E51233-B7E8-4035-AC2E-8D28D238B186}" type="slidenum">
              <a:rPr lang="en-GB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Google Shape;86;p10"/>
          <p:cNvSpPr/>
          <p:nvPr/>
        </p:nvSpPr>
        <p:spPr>
          <a:xfrm>
            <a:off x="-11160" y="6347880"/>
            <a:ext cx="9154800" cy="5101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87;p10"/>
          <p:cNvSpPr/>
          <p:nvPr/>
        </p:nvSpPr>
        <p:spPr>
          <a:xfrm>
            <a:off x="3343320" y="6431040"/>
            <a:ext cx="24573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Excellence and 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88;p10"/>
          <p:cNvSpPr/>
          <p:nvPr/>
        </p:nvSpPr>
        <p:spPr>
          <a:xfrm rot="10800000">
            <a:off x="6946200" y="0"/>
            <a:ext cx="2206800" cy="6145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89;p10"/>
          <p:cNvSpPr/>
          <p:nvPr/>
        </p:nvSpPr>
        <p:spPr>
          <a:xfrm rot="10800000">
            <a:off x="-1800" y="0"/>
            <a:ext cx="9154800" cy="36432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>
            <a:solidFill>
              <a:srgbClr val="0B53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90;p10"/>
          <p:cNvSpPr/>
          <p:nvPr/>
        </p:nvSpPr>
        <p:spPr>
          <a:xfrm>
            <a:off x="6945840" y="248040"/>
            <a:ext cx="2206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CHRIST</a:t>
            </a:r>
            <a:br>
              <a:rPr sz="1400"/>
            </a:b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Deemed to be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1886760"/>
            <a:ext cx="8520120" cy="184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Speech-Native Retrieval-Augmented Generation for Agricultural Advisory in Low-Resource Dialects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311760" y="3778920"/>
            <a:ext cx="8520120" cy="105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Darshan Pundlik Heble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Christ (Deemed to be University)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Bangalore, India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Background &amp; Motivation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Current AI-driven agricultural advisory systems rely on a cascaded architecture: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1. Automatic Speech Recognition (ASR) transcribes the spoken query.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2. Retrieval-Augmented Generation (RAG) fetches information based on the text.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The Flaw: ASR errors on domain-critical terms (pests, crops) propagate directly into retrieval failures.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The Core Challenge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ASR systems disproportionately fail under two compounding conditions: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Domain-Critical Rare Vocabulary: Pesticide names, disease terminology,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Low-Resource Dialects: Colloquial and regional terms absent from standard ASR training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Result: A mis-transcribed pest name leads to fetching irrelevant documents and generating harmful farming advice.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Proposed Architecture: The Four Pillars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A novel framework integrating four key components: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1. Speech-Native Retrieval Backbone (bypassing ASR)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2. Dialect-to-Scientific-Entity Mapping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3. Confidence-Gated Escalation (human fallback)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4. Fully Offline, Edge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Speech-Native Retrieval &amp; Dialect Mapping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Speech-Native Retrieval: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Projects speech encoder representations directly into a text retriever's embedding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Avoids transcription errors completely.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Dialect-to-Scientific-Entity Mapping: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Normalizes colloquial farmer terms to standard scientific nomenclature.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Bootstrapped from existing public agricultural knowledge graphs (e.g., EPPO).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Confidence Gating &amp; Offline Deployment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Confidence-Gated Escalation: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Incorrect advice can damage a season's crop.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Evaluates internal/external confidence signals. If low, abstains and routes the query to a human expert.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Offline Edge Deployment: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The pipeline runs entirely offline on consumer-grade, GPU-constrained hardware (e.g., 6 GB VRAM laptop).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Crucial for rural settings with limited network connectivity.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Research Questions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RQ1: Does speech-native retrieval retain its advantage over ASR under dialect variation and rare vocabulary?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RQ2: Does dialect mapping improve retrieval accuracy for colloquial queries?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RQ3: Can the pipeline operate fully offline at acceptable latency/accuracy?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RQ4: Does hybrid (lexical + dense) retrieval combined with dialect mapping outperform either alone on rare entities?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Prototype &amp; Preliminary 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A software prototype was built and tested on synthetic, demo-scale data: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Successes: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Dialect mapping unlocks retrieval for colloquial text queries.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Offline latency on a 6 GB VRAM laptop fits the budget (in fp16).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Open Challenges: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Speech-native adapter failed to generalize past its training distribution on synthetic audio.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Core speech-native premise remains unconfirmed pending evaluation on real dialect speech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Conclusion &amp; Future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68280" algn="l">
              <a:lnSpc>
                <a:spcPct val="100000"/>
              </a:lnSpc>
              <a:buClr>
                <a:srgbClr val="000000"/>
              </a:buClr>
              <a:buFont typeface="Archivo Narrow"/>
              <a:buChar char="●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The combination of Speech-Native RAG, Dialect Mapping, Confidence Gating, and Offline Deployment is highly promising but requires further empirical validation.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○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Future Directions: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Collecting a real, recorded speech corpus for the target low-resource dialect.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Improving adapter generalization in low-resource settings.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chivo Narrow"/>
              <a:buChar char="■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chivo Narrow"/>
                <a:ea typeface="Archivo Narrow"/>
              </a:rPr>
              <a:t>Implementing dialect mapping directly in the embedding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2026-07-18T22:27:04Z</dcterms:modified>
  <cp:revision>1</cp:revision>
  <dc:subject/>
  <dc:title/>
</cp:coreProperties>
</file>